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30916928724f46" /><Relationship Type="http://schemas.openxmlformats.org/officeDocument/2006/relationships/extended-properties" Target="/docProps/app.xml" Id="Ra70cb0b8adbb4e20" /><Relationship Type="http://schemas.openxmlformats.org/officeDocument/2006/relationships/officeDocument" Target="/ppt/presentation.xml" Id="Rc0cb915a22de46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09696c27b24ec3"/>
  </p:sldMasterIdLst>
  <p:notesMasterIdLst>
    <p:notesMasterId xmlns:r="http://schemas.openxmlformats.org/officeDocument/2006/relationships" r:id="Rc7c62db26aee41c1"/>
  </p:notesMasterIdLst>
  <p:sldIdLst>
    <p:sldId xmlns:r="http://schemas.openxmlformats.org/officeDocument/2006/relationships" id="256" r:id="R87c1837206ea4393"/>
    <p:sldId xmlns:r="http://schemas.openxmlformats.org/officeDocument/2006/relationships" id="257" r:id="Rd08326e2e90f4958"/>
    <p:sldId xmlns:r="http://schemas.openxmlformats.org/officeDocument/2006/relationships" id="258" r:id="R81f33cdbf0904dc0"/>
    <p:sldId xmlns:r="http://schemas.openxmlformats.org/officeDocument/2006/relationships" id="259" r:id="Rba721b9e845d473f"/>
    <p:sldId xmlns:r="http://schemas.openxmlformats.org/officeDocument/2006/relationships" id="260" r:id="Rbc4825352f6d4b92"/>
    <p:sldId xmlns:r="http://schemas.openxmlformats.org/officeDocument/2006/relationships" id="261" r:id="Rc7ea0f5fce934e9b"/>
    <p:sldId xmlns:r="http://schemas.openxmlformats.org/officeDocument/2006/relationships" id="262" r:id="R6f827f44378b47c4"/>
    <p:sldId xmlns:r="http://schemas.openxmlformats.org/officeDocument/2006/relationships" id="263" r:id="R06924604f16c4176"/>
    <p:sldId xmlns:r="http://schemas.openxmlformats.org/officeDocument/2006/relationships" id="264" r:id="R506bdd1a9f274748"/>
    <p:sldId xmlns:r="http://schemas.openxmlformats.org/officeDocument/2006/relationships" id="265" r:id="R7be67c371ce0475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09696c27b24ec3" /><Relationship Type="http://schemas.openxmlformats.org/officeDocument/2006/relationships/theme" Target="/ppt/theme/theme1.xml" Id="Rbc4e4f9eadfd4a8f" /><Relationship Type="http://schemas.openxmlformats.org/officeDocument/2006/relationships/notesMaster" Target="/ppt/notesMasters/notesMaster1.xml" Id="Rc7c62db26aee41c1" /><Relationship Type="http://schemas.openxmlformats.org/officeDocument/2006/relationships/presProps" Target="/ppt/presProps.xml" Id="R7f6ab6e0309a400b" /><Relationship Type="http://schemas.openxmlformats.org/officeDocument/2006/relationships/viewProps" Target="/ppt/viewProps.xml" Id="R3ab11757b69648b2" /><Relationship Type="http://schemas.openxmlformats.org/officeDocument/2006/relationships/tableStyles" Target="/ppt/tableStyles.xml" Id="Rad937784b0004c19" /><Relationship Type="http://schemas.openxmlformats.org/officeDocument/2006/relationships/slide" Target="/ppt/slides/slide1.xml" Id="R87c1837206ea4393" /><Relationship Type="http://schemas.openxmlformats.org/officeDocument/2006/relationships/slide" Target="/ppt/slides/slide2.xml" Id="Rd08326e2e90f4958" /><Relationship Type="http://schemas.openxmlformats.org/officeDocument/2006/relationships/slide" Target="/ppt/slides/slide3.xml" Id="R81f33cdbf0904dc0" /><Relationship Type="http://schemas.openxmlformats.org/officeDocument/2006/relationships/slide" Target="/ppt/slides/slide4.xml" Id="Rba721b9e845d473f" /><Relationship Type="http://schemas.openxmlformats.org/officeDocument/2006/relationships/slide" Target="/ppt/slides/slide5.xml" Id="Rbc4825352f6d4b92" /><Relationship Type="http://schemas.openxmlformats.org/officeDocument/2006/relationships/slide" Target="/ppt/slides/slide6.xml" Id="Rc7ea0f5fce934e9b" /><Relationship Type="http://schemas.openxmlformats.org/officeDocument/2006/relationships/slide" Target="/ppt/slides/slide7.xml" Id="R6f827f44378b47c4" /><Relationship Type="http://schemas.openxmlformats.org/officeDocument/2006/relationships/slide" Target="/ppt/slides/slide8.xml" Id="R06924604f16c4176" /><Relationship Type="http://schemas.openxmlformats.org/officeDocument/2006/relationships/slide" Target="/ppt/slides/slide9.xml" Id="R506bdd1a9f274748" /><Relationship Type="http://schemas.openxmlformats.org/officeDocument/2006/relationships/slide" Target="/ppt/slides/slide10.xml" Id="R7be67c371ce047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9d3cd96706348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51ba6fbd834da1" /><Relationship Type="http://schemas.openxmlformats.org/officeDocument/2006/relationships/notesMaster" Target="/ppt/notesMasters/notesMaster1.xml" Id="Raed053386d044c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3b1cdd3e444e23" /><Relationship Type="http://schemas.openxmlformats.org/officeDocument/2006/relationships/notesMaster" Target="/ppt/notesMasters/notesMaster1.xml" Id="R0dc69ae2e0144a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6ed3f0e8254300" /><Relationship Type="http://schemas.openxmlformats.org/officeDocument/2006/relationships/notesMaster" Target="/ppt/notesMasters/notesMaster1.xml" Id="R00d19d12045d42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992008ce1d4cef" /><Relationship Type="http://schemas.openxmlformats.org/officeDocument/2006/relationships/notesMaster" Target="/ppt/notesMasters/notesMaster1.xml" Id="Rf02c32e09fd24a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cd864475c94ed4" /><Relationship Type="http://schemas.openxmlformats.org/officeDocument/2006/relationships/notesMaster" Target="/ppt/notesMasters/notesMaster1.xml" Id="R75b3c2496e1d49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c3a0c5439043b5" /><Relationship Type="http://schemas.openxmlformats.org/officeDocument/2006/relationships/notesMaster" Target="/ppt/notesMasters/notesMaster1.xml" Id="R208093f2ce324b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2c109d190447ef" /><Relationship Type="http://schemas.openxmlformats.org/officeDocument/2006/relationships/notesMaster" Target="/ppt/notesMasters/notesMaster1.xml" Id="Reb01fa96d1fb4b4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c4eb2ee45040d3" /><Relationship Type="http://schemas.openxmlformats.org/officeDocument/2006/relationships/notesMaster" Target="/ppt/notesMasters/notesMaster1.xml" Id="Rac1ece04e85640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3d4d16423554195" /><Relationship Type="http://schemas.openxmlformats.org/officeDocument/2006/relationships/notesMaster" Target="/ppt/notesMasters/notesMaster1.xml" Id="R2722cc16bf6446b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9dcd946e8c348e1" /><Relationship Type="http://schemas.openxmlformats.org/officeDocument/2006/relationships/notesMaster" Target="/ppt/notesMasters/notesMaster1.xml" Id="R44a96de068094c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86ce1cf53d453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2a33642d5154e62" /><Relationship Type="http://schemas.openxmlformats.org/officeDocument/2006/relationships/slideLayout" Target="/ppt/slideLayouts/slideLayout2.xml" Id="R88de9c2f8b5a43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de9c2f8b5a43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b5572f34a94dda" /><Relationship Type="http://schemas.openxmlformats.org/officeDocument/2006/relationships/notesSlide" Target="/ppt/notesSlides/notesSlide1.xml" Id="R19a499a7082741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0eec24ed024695" /><Relationship Type="http://schemas.openxmlformats.org/officeDocument/2006/relationships/notesSlide" Target="/ppt/notesSlides/notesSlide2.xml" Id="R0c040745c5bf4e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2c1b0e24dc457f" /><Relationship Type="http://schemas.openxmlformats.org/officeDocument/2006/relationships/notesSlide" Target="/ppt/notesSlides/notesSlide3.xml" Id="R4b07c081ad124b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6448c89bbc4224" /><Relationship Type="http://schemas.openxmlformats.org/officeDocument/2006/relationships/notesSlide" Target="/ppt/notesSlides/notesSlide4.xml" Id="Rb666d9601a3646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38a6a107604cff" /><Relationship Type="http://schemas.openxmlformats.org/officeDocument/2006/relationships/notesSlide" Target="/ppt/notesSlides/notesSlide5.xml" Id="R1be39c53fc1842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90a5879d224cef" /><Relationship Type="http://schemas.openxmlformats.org/officeDocument/2006/relationships/notesSlide" Target="/ppt/notesSlides/notesSlide6.xml" Id="Rb4239923cf624c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c8d3b4b6c342a5" /><Relationship Type="http://schemas.openxmlformats.org/officeDocument/2006/relationships/notesSlide" Target="/ppt/notesSlides/notesSlide7.xml" Id="Rc54cde55338e45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d6663e85474e07" /><Relationship Type="http://schemas.openxmlformats.org/officeDocument/2006/relationships/notesSlide" Target="/ppt/notesSlides/notesSlide8.xml" Id="R2cc58927570149b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bfb3a0b9a7488f" /><Relationship Type="http://schemas.openxmlformats.org/officeDocument/2006/relationships/notesSlide" Target="/ppt/notesSlides/notesSlide9.xml" Id="R195f1f72502042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6001ea93084dda" /><Relationship Type="http://schemas.openxmlformats.org/officeDocument/2006/relationships/notesSlide" Target="/ppt/notesSlides/notesSlide10.xml" Id="R23cd27630a4045d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D349FC-8680-4D09-B1E4-DC4AB7D9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D4B6F5-C335-4AD4-B3B9-1B3325CD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6298D0-776D-46E3-B73A-D9F0950D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F4C9B5-5937-4D2B-A3DE-43607726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C675AD-1AFE-46AC-908C-8B742FD4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7625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8EA8D5-4C73-4626-86DB-0D518666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5245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4FB5F3-2D4A-4BD1-AED3-DF5CA8D2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2865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9F83F0-C1A2-4F23-8133-FF17B9F1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704850"/>
            <a:ext cx="1390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932F96-8654-4BB2-85BF-4B0404F0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781050"/>
            <a:ext cx="1162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01D15B-C1E0-4DF1-96BE-01C48A06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857250"/>
            <a:ext cx="933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4AA0EA-C7BD-4EF0-8095-B5332EE9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933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E0781B-0F60-4556-B4D7-79545353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561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Resume Matcher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6B3D47-DEEA-46ED-96C1-BFB0D7DD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533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7E8F9"/>
                </a:solidFill>
                <a:latin typeface="Aptos"/>
                <a:ea typeface="Aptos"/>
                <a:cs typeface="Aptos"/>
              </a:rPr>
              <a:t>Intelligent resume-to-job description matching</a:t>
            </a:r>
          </a:p>
          <a:p xmlns:a="http://schemas.openxmlformats.org/drawingml/2006/main">
            <a:pPr algn="l">
              <a:defRPr sz="1650" b="0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7E8F9"/>
                </a:solidFill>
                <a:latin typeface="Aptos"/>
                <a:ea typeface="Aptos"/>
                <a:cs typeface="Aptos"/>
              </a:rPr>
              <a:t>with explainable feedback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478FE1-3C74-42FD-81C6-67423A3A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76450"/>
            <a:ext cx="571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Objective, methodology, demonstration, and results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6F60C9-CCD4-45DA-AD48-5A16AFEC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85800"/>
            <a:ext cx="3714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67E8F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6C9B11-CA87-4C9E-A226-84CEB08C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87630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PROXY IMAGE: live app screen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1FF5FF-4C5C-4172-A722-B0EFB094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200150"/>
            <a:ext cx="3143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Streamlit interface placeholder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Expected labels:</a:t>
            </a:r>
          </a:p>
          <a:p xmlns:a="http://schemas.openxmlformats.org/drawingml/2006/main">
            <a:pPr algn="l">
              <a:defRPr sz="112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 resume upload | B JD input | C score dashboard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DABA8E-E13C-4049-8B3B-F9B25A7F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47900"/>
            <a:ext cx="83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665686-25A7-4B74-A1D5-F7752C12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050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A Upload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FB22C4-C089-4661-A62D-DD104A85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47900"/>
            <a:ext cx="685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A85C28-3462-4425-8324-D2786AF0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050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B JD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B1EA76-F4CE-4723-AF23-A90B83BC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247900"/>
            <a:ext cx="83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5F75D7-E566-4304-9F1F-39093190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050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C Score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A3B508-199B-4F9A-B1B2-AC49A5B1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PDF + OCR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1E3B6A-F4B5-4F00-8082-E6D8F231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resume extraction paths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B5D2F0-D3A9-4E95-AC88-2C0FA3ED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861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FBBF24"/>
                </a:solidFill>
                <a:latin typeface="Aptos"/>
                <a:ea typeface="Aptos"/>
                <a:cs typeface="Aptos"/>
              </a:rPr>
              <a:t>TF-IDF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40BB4A-48CE-480C-A0D1-0B624B2C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9433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transparent local scoring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B653A7-F93F-44D4-AC98-D0F7FDBF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86150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A78BFA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A78BF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966950-2CD6-4EA8-9226-C3359B8C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433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LLM providers supported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A3CA26-A031-46C2-941D-C8DBD10A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8615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34D399"/>
                </a:solidFill>
                <a:latin typeface="Aptos"/>
                <a:ea typeface="Aptos"/>
                <a:cs typeface="Aptos"/>
              </a:rPr>
              <a:t>8 passed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785DA4-5FED-46F4-9BEE-2F32450E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433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latest pytest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451DFD-413A-4F1D-9EBF-B6FC9920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53100"/>
            <a:ext cx="800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Built by Jaskaran Singh | Department of Computer Science / Software Engineering | April 2026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855834-DEF8-4DA1-8DF6-96B25685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89715D-EE67-4AA1-9371-1BCAC485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885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Source: README.md, PROJECT_REPORT.md, SYSTEM_DESIGN.md, local pytest run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8E7678-744C-49BA-9FC2-869BB07D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5151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Resume Matcher Capstone</a:t>
            </a:r>
          </a:p>
        </p:txBody>
      </p:sp>
    </p:spTree>
    <p:extLst>
      <p:ext uri="{BB962C8B-B14F-4D97-AF65-F5344CB8AC3E}">
        <p14:creationId xmlns:p14="http://schemas.microsoft.com/office/powerpoint/2010/main" val="184378456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8D3A92-6F40-46A4-BF8D-C4F31C89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216CD1-4747-4640-8F5F-B41C7897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A8A39C-ABAB-4302-A3ED-C94A0788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C359DB-260C-4CB5-8A61-3EF99DD2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3BED3B-0864-4B5D-99D4-593C03B1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7625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7805D2-4486-4197-A58C-855FA373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5245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8CA745-D474-4633-B88D-B5178836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2865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0A6213-8D67-4451-8D30-364C244C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704850"/>
            <a:ext cx="1390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71C88E-8022-418B-9FAB-8609B94C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781050"/>
            <a:ext cx="1162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E950AB-B776-4385-9CB3-9BA53936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857250"/>
            <a:ext cx="933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62D568-FF97-4858-984A-9D7D3D40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933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725B1BF5-9DDA-4FD1-886A-FF037B76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OBJECTIVE</a:t>
            </a:r>
          </a:p>
        </p:txBody>
      </p:sp>
      <p:sp>
        <p:nvSpPr>
          <p:cNvPr id="13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71E5264B-96B2-441B-BD62-D4F56906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17286B-05E2-4BE9-9C1D-3402C43A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The project answers the candidate's three practical questions before applying.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EFFB6B-0D14-4C85-946A-ED994964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857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Scope is intentionally v1: single resume, one target JD, no database, and no ATS integration.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D4B691-FDD4-40F9-A1A3-CAACAC2E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191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2/10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3F9CA8-C6DA-411B-B99C-F7AECA18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F98077-FFC3-4DB6-A8E2-39B0EA18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717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How strong is my fit?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76DC2C-0220-4719-B170-3216E6C9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95600"/>
            <a:ext cx="419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 percentage score grounded in local similarity and depth matching.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12F193-2DFF-458A-BBD3-C683D56D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C5BF2D-29A1-4E86-B27F-E4618B5C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623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What gaps matter?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E154EE-409A-4675-8926-7E4A9034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86200"/>
            <a:ext cx="419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Detected depth signals and missing skill areas are shown clearly.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43908E-A895-42EB-8422-5CFD02D3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860397-3803-4676-97DE-22C9D302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529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What should I improve first?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315D09-4EC7-4141-A014-656ADB49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76800"/>
            <a:ext cx="419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LLM feedback turns the score into a prioritized practice plan.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716B6F-38E5-400D-8124-E175D526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4191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58B659-222A-4FA0-A487-C3FF04EF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05100"/>
            <a:ext cx="3886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PROJECT OBJECTIVES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E28917-0609-4B26-86E8-EE77DCC9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971800"/>
            <a:ext cx="38862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Primary: upload a resume, compare against a JD, and return actionable feedback.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Technical: support PDF/image extraction, preprocessing, scoring, and provider-based coaching.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Quality: replace fragile demo scripts with deterministic tests and graceful error contracts.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77B0EE-E288-42FE-93E2-EE34EDA4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BFA418-85CA-4D8D-BABD-8668BF0D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885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Source: PROJECT_REPORT.md sections 2-5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B64BCA-A392-49B9-90DE-7E4E19D4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5151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Resume Matcher Capstone</a:t>
            </a:r>
          </a:p>
        </p:txBody>
      </p:sp>
    </p:spTree>
    <p:extLst>
      <p:ext uri="{BB962C8B-B14F-4D97-AF65-F5344CB8AC3E}">
        <p14:creationId xmlns:p14="http://schemas.microsoft.com/office/powerpoint/2010/main" val="96222549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DDB135-B366-421B-89AC-CBE32E93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B4C1F6-4623-4037-806C-F5A49CE1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44DA0C-F6AB-4D52-9F13-8405484B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6C6B16-6D37-47DC-9FD4-3EB232BA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A36129-D04E-4E78-AB28-E2A4C433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7625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6234D0-83AF-4D9B-BA74-00EE531B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5245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B8C626-D63D-4DFF-9F21-0E54500E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2865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3358EA-C123-4D9A-AC95-123B022A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704850"/>
            <a:ext cx="1390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2DD7E4-6961-4DCC-B872-B2609776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781050"/>
            <a:ext cx="1162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D3646B-92DB-4EB2-9360-F97978D1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857250"/>
            <a:ext cx="933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40AB9E-E600-4564-B48D-40EAFDEB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933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D9F05952-F752-41F8-BBAC-ED78709B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13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C3F0DE2C-D91B-4A37-8329-BEE211CF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8A7C11-C6C0-41EC-88FF-7F289030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A layered pipeline keeps extraction, scoring, and AI feedback independently testable.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4065D4-132C-43EC-8081-1553FAA7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857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The deterministic score path is isolated from provider calls; API failures do not block the core match score.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EA1318-6623-4278-B457-EF1DAAEF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191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3/10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D01B78-9A40-43C6-859D-738626DD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14650"/>
            <a:ext cx="1524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67E8F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CEF1AE-CFF2-46C8-9A54-94391EFB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User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E7F0F3-2EA7-47AD-9916-8E6E02AE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1219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resume file + JD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EF5443-E9EA-4259-8C45-148DD506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14650"/>
            <a:ext cx="1524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979F65-B957-4BB1-ABFC-31395A42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4800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BBF24"/>
                </a:solidFill>
                <a:latin typeface="Aptos"/>
                <a:ea typeface="Aptos"/>
                <a:cs typeface="Aptos"/>
              </a:rPr>
              <a:t>Extraction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EB568D-2726-4E61-960E-A3ED60F3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14700"/>
            <a:ext cx="1219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PyPDF2 / OCR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1AD23A-0C4C-4ECE-9AC2-BB8CDBD1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14650"/>
            <a:ext cx="1524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A9197F-B027-4BB6-86A7-6D1C4205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04800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4D399"/>
                </a:solidFill>
                <a:latin typeface="Aptos"/>
                <a:ea typeface="Aptos"/>
                <a:cs typeface="Aptos"/>
              </a:rPr>
              <a:t>Preprocessing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00F7CE-8849-4D2C-8917-E7BF450D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314700"/>
            <a:ext cx="1219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normalization + signals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6CF47A-478D-4A99-B687-FF678C04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14650"/>
            <a:ext cx="1524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0E7D01-B4FE-4A6E-BD01-46A2F12D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4800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8BF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78BFA"/>
                </a:solidFill>
                <a:latin typeface="Aptos"/>
                <a:ea typeface="Aptos"/>
                <a:cs typeface="Aptos"/>
              </a:rPr>
              <a:t>Scoring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4EDBD3-29DF-4A19-B81C-3BC2956E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14700"/>
            <a:ext cx="1219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TF-IDF + penalty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63386D-E787-4BE1-9E1B-64EA5492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14650"/>
            <a:ext cx="1524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A7A322-756B-4A80-A460-AB996FB7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4800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B7185"/>
                </a:solidFill>
                <a:latin typeface="Aptos"/>
                <a:ea typeface="Aptos"/>
                <a:cs typeface="Aptos"/>
              </a:rPr>
              <a:t>UI Results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55CC6A-E937-40C6-9195-D91ABBF1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314700"/>
            <a:ext cx="1219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score + feedback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E3CE18-2CE7-4C96-9218-05471C84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5757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1CADE5-FDB4-4BB3-8A64-D6FBCDCB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2575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BBF24"/>
                </a:solidFill>
                <a:latin typeface="Aptos"/>
                <a:ea typeface="Aptos"/>
                <a:cs typeface="Aptos"/>
              </a:rPr>
              <a:t>&gt; data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DEF12F-34EE-4C7C-850A-E7252F31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5757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C85EA4-2AC5-4526-8347-EBFBC1B0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2575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BBF24"/>
                </a:solidFill>
                <a:latin typeface="Aptos"/>
                <a:ea typeface="Aptos"/>
                <a:cs typeface="Aptos"/>
              </a:rPr>
              <a:t>&gt; data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E749C0-9F38-4732-91AC-3BB5C952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575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52878F-6522-43B8-AD7A-13B9E14D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575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BBF24"/>
                </a:solidFill>
                <a:latin typeface="Aptos"/>
                <a:ea typeface="Aptos"/>
                <a:cs typeface="Aptos"/>
              </a:rPr>
              <a:t>&gt; data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BAC3111-4620-4C7E-8F0F-43158A43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57575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2C4A51-3DAD-4107-9BD6-DF28AF8B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25755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BBF24"/>
                </a:solidFill>
                <a:latin typeface="Aptos"/>
                <a:ea typeface="Aptos"/>
                <a:cs typeface="Aptos"/>
              </a:rPr>
              <a:t>&gt; data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21E957B-C4D1-4F84-AF61-B486A352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29150"/>
            <a:ext cx="3333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39C990B-2B0A-4335-A016-55AA3FBB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762500"/>
            <a:ext cx="3028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OPTIONAL FEEDBACK PATH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85E3A35-B414-4E85-964A-4AE1B5A0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029200"/>
            <a:ext cx="3028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generate_feedback routes to Groq, OpenRouter, or Gemini after score computation.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0C98082-F726-4844-9CD3-BD2E1E72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019550"/>
            <a:ext cx="285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517D781-9716-4F1F-9794-F72B8A19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629150"/>
            <a:ext cx="2495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2D4CFEC-E3E8-498D-8920-1469F95F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1960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BBF24"/>
                </a:solidFill>
                <a:latin typeface="Aptos"/>
                <a:ea typeface="Aptos"/>
                <a:cs typeface="Aptos"/>
              </a:rPr>
              <a:t>&gt; provider call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76DDABB-E1C2-42C3-B5A8-E280DFD9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4286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Key separation: local scoring stays independent from provider feedback.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950B4F4-0B90-4E71-B361-7C987126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DE0A0DA-0AB1-41C0-AC6A-16A8B259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885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Source: SYSTEM_DESIGN.md sections 1.3-1.5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F7A120B-A3A6-412C-ACDF-F0AB7D14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5151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Resume Matcher Capstone</a:t>
            </a:r>
          </a:p>
        </p:txBody>
      </p:sp>
    </p:spTree>
    <p:extLst>
      <p:ext uri="{BB962C8B-B14F-4D97-AF65-F5344CB8AC3E}">
        <p14:creationId xmlns:p14="http://schemas.microsoft.com/office/powerpoint/2010/main" val="15518021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D7F262-7802-427D-8D8F-0E4C8182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EB574A-E078-4E81-9C7B-3368FD53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290155-EEF2-4874-9D74-A904BB69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F24527-E51F-4C1D-8E4D-73E77792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E5735C-DA2F-461D-ADE6-B66EE11B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7625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0ECCD9-CADF-4A9D-B232-2EEBEFE5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5245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6FB744-EAF3-4F4A-847D-5FBF9440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2865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3500ED-061D-463E-A763-CA2600BE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704850"/>
            <a:ext cx="1390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91C0C3-0BCF-40A7-A3A5-72DFA266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781050"/>
            <a:ext cx="1162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717A19-3908-4E11-9243-29B1D78E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857250"/>
            <a:ext cx="933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C8383C-EB25-4DA6-90B2-AEEEA4B7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933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E80C6ED6-4C46-4145-84B7-E29DA1E0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METHODOLOGY</a:t>
            </a:r>
          </a:p>
        </p:txBody>
      </p:sp>
      <p:sp>
        <p:nvSpPr>
          <p:cNvPr id="13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2F101325-9D4E-485F-AE8D-C14159C8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03763E-8239-4E33-8550-CD48EE8F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Text is normalized before scoring so noisy resumes compare in a cleaner token space.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39AB23-E29D-42AD-BDD7-9B52A74F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857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Rule-based preprocessing was chosen for predictability, speed, and easy debugging under academic constraints.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426860-D6F9-4F2F-A63E-46BB903B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191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4/10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E74A51-EB6F-4BBC-9698-2862D77E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032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B465C2-EABB-4BE9-A9DF-5BC61997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33650"/>
            <a:ext cx="2343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Lowercase + Unicode normalize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74A17C-01A1-4994-AEA7-5CB26604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28950"/>
            <a:ext cx="2343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9F7745-17A7-4644-A376-985E8D82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60032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938A60-7992-440A-AEEB-49DD5B03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533650"/>
            <a:ext cx="2343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Delimiter cleanup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ED492C-21AE-4F46-9F46-04F8E54F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028950"/>
            <a:ext cx="2343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90B004-DC44-4E9D-BAF1-6D0DFF8C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0032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F9CBB8-1F48-458A-BC1F-6FCAD443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33650"/>
            <a:ext cx="2343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Informal term expansion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3E713E-1E62-4796-BCF5-ACBCB759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28950"/>
            <a:ext cx="2343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D4CEDB-B3B6-4CF2-A0F0-E29BFAA7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CF0C2C-0392-45D9-9577-2E5EA41A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2343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Tech abbreviation expansion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FAC017-A4B1-461E-BED9-17E5CF88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2343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97D1CD-DBDE-4AF6-9F1C-479F5537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49567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F1C846-6656-451B-85C5-F1E1763F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429000"/>
            <a:ext cx="2343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Broken-word repair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A6D013-B425-4F5C-95B9-A372A576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924300"/>
            <a:ext cx="2343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70AD7D-4B59-472C-BAA1-3CF20ACB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9567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15F937-D849-4422-A22A-619D591F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29000"/>
            <a:ext cx="2343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Punctuation cleanup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044F2B-9FE6-4D27-AFB2-C11E196F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24300"/>
            <a:ext cx="2343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2F0096-C524-444B-965B-897D2862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9102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9D5710-297A-4A4A-9C34-28D2C1A0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24350"/>
            <a:ext cx="2343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Skill normalization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07A2A3-FB4D-4387-821D-DDC0845C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2343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4004E7-8084-4F6C-8200-37F00320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39102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9B6A0C-D3D2-4A95-8AFC-9AA75850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324350"/>
            <a:ext cx="2343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Stopword reduction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CF0C74-028E-45DF-BE61-54FB0262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819650"/>
            <a:ext cx="2343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6BE64BC-E988-4A47-9D77-E34344C7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39102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2960DFD-A2BE-4EAC-9AE5-5E0306BE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324350"/>
            <a:ext cx="2343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Depth signal extraction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AEB2F27-66BF-4B1D-9879-73350EAD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819650"/>
            <a:ext cx="2343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E3D5291-6C56-428F-B1B3-C628E942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33950"/>
            <a:ext cx="3524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412DE4E-CBE6-4D26-9430-CAAED685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067300"/>
            <a:ext cx="3219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OUTPUT CONTRACT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BB147CC-E46E-45D5-B01A-399CDE72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334000"/>
            <a:ext cx="3219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clean_resume, clean_jd, resume_depth, jd_depth, depth_gap, resume_signals, jd_signals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D1D2533-8114-471C-BC92-11BFBD16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EF6C0EC-187D-4677-8D34-6D843AE5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885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Source: preprocessing/preprocessing_pipeline.py and PROJECT_REPORT.md section 8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36D8CD0-2784-41A5-B4C4-756C53F6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5151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Resume Matcher Capstone</a:t>
            </a:r>
          </a:p>
        </p:txBody>
      </p:sp>
    </p:spTree>
    <p:extLst>
      <p:ext uri="{BB962C8B-B14F-4D97-AF65-F5344CB8AC3E}">
        <p14:creationId xmlns:p14="http://schemas.microsoft.com/office/powerpoint/2010/main" val="648065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DF4199-E6F5-47DD-B0E1-A1D3A603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3A73C5-2F0E-4BE5-8DEF-692427D4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B79A6E-5C3D-485E-90F2-7AAE56FD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32E6EE-E0D9-4248-B710-1E2DE94A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AC9C47-2530-49AC-A409-18D6E77C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7625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46D81-D7A0-4C25-ACA2-A96EB47A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5245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77D260-6E1A-4D90-A8C2-CFB41C91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2865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5CBFEC-24A6-4A66-9A7D-30A3DBAC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704850"/>
            <a:ext cx="1390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D4BB39-F06A-434F-8B1E-8E8C69B6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781050"/>
            <a:ext cx="1162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4BEF43-C5D2-4944-BB8D-C1F39227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857250"/>
            <a:ext cx="933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ADE65F-3CD4-42CC-B26A-63BC2D89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933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4E37E9C3-DDD6-4CD7-BEF6-1261A6CB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SCORING LOGIC</a:t>
            </a:r>
          </a:p>
        </p:txBody>
      </p:sp>
      <p:sp>
        <p:nvSpPr>
          <p:cNvPr id="13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A8BC2F60-3CCE-4EE7-B6A9-173BA179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86D4A8-F6CC-496B-B5BC-0790462D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The score is transparent: TF-IDF similarity minus an explicit depth-gap penalty.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2FA0B5-652B-40E2-B153-62FF8C4D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857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The final value is clamped to 0-100%, making the result easy to explain during demonstration.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A7474E-2AA0-40FB-B5BB-59117A80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191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5/10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1DDA41-66FA-409C-93AA-B33099E2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34290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832835-8CE0-42BC-B8A4-9D7C28B8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3124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FORMULA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A24F54-BA7E-4E76-B98C-FBB79800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3124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final_score = similarity - (0.15 x depth_gap)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Then clamp to [0, 1] and display as a percentage.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BBFFC7-313B-4B50-86D6-061C84BA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384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Similarity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3574A3-AD0F-4370-82AC-0F19F330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B05D6B-EF81-4BF6-BD49-2E745155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2733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153EE7-0834-480E-841D-1585F6A7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813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Cosine similarity over TF-IDF vectors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83C989-D086-4BA8-90D1-442C4375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766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Depth penalty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887CBE-F73C-4FEE-BD82-842DF497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9570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FAFE96-26D2-47C7-9585-06F378E5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95700"/>
            <a:ext cx="5000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41884A-870A-431A-A192-4FE7739C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Mismatch between resume and JD depth signals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C9A23D-B353-49B6-9924-3022D4A1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148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Displayed score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0C196D-8164-46A8-AEC8-372EAAD8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3390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6A52CE-31F0-40D6-871C-A63D5602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33900"/>
            <a:ext cx="223361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AD38CC-BAA2-46F4-BE43-CAED526A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577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Clamped percentage after adjustment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574CC8-EFA1-4703-9FFB-314A7AC1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Why this method?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DA3459-8BED-459E-A974-35A44B15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4667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Fast, explainable, deterministic, and suitable for a local academic/portfolio-grade v1.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35667C-1900-413F-B18F-0FE1966B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AF6C6F-652F-4F7A-99C6-24651F18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885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Source: model/model.py and PROJECT_REPORT.md section 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6F9D63-C7B8-466C-95ED-164DD698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5151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Resume Matcher Capstone</a:t>
            </a:r>
          </a:p>
        </p:txBody>
      </p:sp>
    </p:spTree>
    <p:extLst>
      <p:ext uri="{BB962C8B-B14F-4D97-AF65-F5344CB8AC3E}">
        <p14:creationId xmlns:p14="http://schemas.microsoft.com/office/powerpoint/2010/main" val="55712571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5AC0DF-82AA-4810-B7FA-9405B488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FF187F-98A6-4A14-8812-15CE20F4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ACD544-2F14-400A-8FBF-DE40ED29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DD9354-B318-42C8-BD29-95B51DD2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BD4520-FA87-4D22-8425-F129432C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7625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C54938-0459-456A-B805-34537DAB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5245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196A0A-2D95-4189-A1B0-DAC6B216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2865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853481-8C56-4706-B9D0-B540E736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704850"/>
            <a:ext cx="1390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ADDD90-F1A2-4C6C-84D3-4439DA62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781050"/>
            <a:ext cx="1162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0E3645-BE6A-451D-A6FD-C3511F07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857250"/>
            <a:ext cx="933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F6E393-3D2A-4380-9EF9-1662D16A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933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52C572B8-DF4D-4101-A071-DCE61BBA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DEMONSTRATION</a:t>
            </a:r>
          </a:p>
        </p:txBody>
      </p:sp>
      <p:sp>
        <p:nvSpPr>
          <p:cNvPr id="13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2785ACF8-AFBA-439F-8550-42B94562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4E1948-E4A5-4B0E-AC02-8D44FCE4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The user journey is a guided workflow from upload to score, signals, and feedback.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639A3D-C614-42FD-A4F0-C63DA047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857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Proxy screenshots are labeled placeholders for the live Streamlit UI demonstration.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A5885F-AEDF-42A4-B2B1-DA672714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191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6/10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C11E7A-8420-4F9B-8785-E063D44C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2857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67E8F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60DC61-58C0-495F-B1D0-1E9930BE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PROXY IMAGE: input screen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E78D95-43AB-4A64-AEEA-DE20B1CA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0"/>
            <a:ext cx="22098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Resume upload</a:t>
            </a:r>
          </a:p>
          <a:p xmlns:a="http://schemas.openxmlformats.org/drawingml/2006/main">
            <a:pPr algn="ctr">
              <a:defRPr sz="15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PDF / PNG / JPG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JD selection</a:t>
            </a:r>
          </a:p>
          <a:p xmlns:a="http://schemas.openxmlformats.org/drawingml/2006/main">
            <a:pPr algn="ctr">
              <a:defRPr sz="15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Template or custom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2AA12F-D0D9-4E80-81AB-47DA0429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29150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5BF4DC-58B8-4940-8087-179C08D3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8630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Label 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950CBC-6D0B-4BCA-B7A0-D8BC98D1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28900"/>
            <a:ext cx="2857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67E8F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185B27-68FF-4762-9500-2E62CDD0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5750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PROXY IMAGE: analysis action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4C40FB-7497-497E-AC16-7F50DEA2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38500"/>
            <a:ext cx="22098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Run analysis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Extraction -&gt; preprocessing -&gt; score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C61579-E57A-43C8-862D-BA750C92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629150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B04043-E75E-4325-BEAD-6BD71FE5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68630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Label 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F78D4A-A673-4E6E-BB84-36EF3295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28900"/>
            <a:ext cx="2857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67E8F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A8354E-0B53-44DF-BF7D-CB68E6BF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5750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PROXY IMAGE: result dashboard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57F4F4-B83B-4865-9505-615D56E4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38500"/>
            <a:ext cx="22098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Score dashboard</a:t>
            </a:r>
          </a:p>
          <a:p xmlns:a="http://schemas.openxmlformats.org/drawingml/2006/main">
            <a:pPr algn="ctr">
              <a:defRPr sz="15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Similarity</a:t>
            </a:r>
          </a:p>
          <a:p xmlns:a="http://schemas.openxmlformats.org/drawingml/2006/main">
            <a:pPr algn="ctr">
              <a:defRPr sz="15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Depth gap</a:t>
            </a:r>
          </a:p>
          <a:p xmlns:a="http://schemas.openxmlformats.org/drawingml/2006/main">
            <a:pPr algn="ctr">
              <a:defRPr sz="15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Feedback panel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A2F1EE-117F-4B1B-BB4C-FB4B6D51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629150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22BA86-DEEF-453B-8A92-CD9E0C69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68630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Label 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6DF84A-CB68-4E58-A548-05085FE8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671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CC82D9-301C-4B96-AB14-04A8F778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576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BBF24"/>
                </a:solidFill>
                <a:latin typeface="Aptos"/>
                <a:ea typeface="Aptos"/>
                <a:cs typeface="Aptos"/>
              </a:rPr>
              <a:t>&gt; click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330FF2-B4B5-48F0-B85D-B6A12CA5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671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C4B3D2-85BF-41CC-976A-FFD6E672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6576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BBF24"/>
                </a:solidFill>
                <a:latin typeface="Aptos"/>
                <a:ea typeface="Aptos"/>
                <a:cs typeface="Aptos"/>
              </a:rPr>
              <a:t>&gt; render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273F09-884C-40D4-8685-3815FEAF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25F3C6-EA4B-44D8-BA1D-25C41044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885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Proxy images: labeled placeholders for live Streamlit demonstration; source UI: app.py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E7A01E-D718-471B-BD49-F5555D0D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5151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Resume Matcher Capstone</a:t>
            </a:r>
          </a:p>
        </p:txBody>
      </p:sp>
    </p:spTree>
    <p:extLst>
      <p:ext uri="{BB962C8B-B14F-4D97-AF65-F5344CB8AC3E}">
        <p14:creationId xmlns:p14="http://schemas.microsoft.com/office/powerpoint/2010/main" val="75212546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C6F9C5-46A5-40E7-9191-10981E9E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AE8945-DC7E-433A-B4AE-1522A367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550300-7F2A-4D95-97BD-9C7E6703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8D6898-F756-4BAE-9045-27CE741A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26E756-312B-4E3A-BB59-464D2C0E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7625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C3A6FC-DABB-4161-923B-EB564C43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5245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25F8D0-B75F-4EAE-9EF6-D08FD97D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2865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1AB0F3-B520-471C-9873-378A6A3C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704850"/>
            <a:ext cx="1390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52E96A-07D0-47C2-A64C-07998A59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781050"/>
            <a:ext cx="1162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B4486D-5C62-4B2B-9F22-2BCE032B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857250"/>
            <a:ext cx="933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265C41-EE07-4D9A-B5E2-BCA248AF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933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2CC34F79-90CB-4E7B-8049-44136929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FEEDBACK LAYER</a:t>
            </a:r>
          </a:p>
        </p:txBody>
      </p:sp>
      <p:sp>
        <p:nvSpPr>
          <p:cNvPr id="13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77EAEAE3-58E1-405C-A42C-97D4A644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7EDB38-0B15-45FB-AE67-49CC4D04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LLM coaching is useful but non-critical: provider errors return controlled messages.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60A26D-4ECE-4D8C-8527-6967F342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857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Groq, OpenRouter, and Gemini are routed by environment variables, with lazy imports and fallback handling where needed.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E1A2C9-E06A-4A65-AB60-85FAC3B8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191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7/10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D02BD8-3C2D-42F5-93DD-9A6A01C3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2571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67E8F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ABA462-109F-4021-876B-4DAE83A2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9560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PUBLIC ROUTER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AE9EFC-36F4-40F7-BD07-5EF34C63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62300"/>
            <a:ext cx="22669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generate_feedback()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reads LLM_PROVIDER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then calls selected provider.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CD44AE-EE10-43BC-8DF9-BCE31760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8125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064054-D4E5-4A8C-B428-6F1D47C2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14600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4D399"/>
                </a:solidFill>
                <a:latin typeface="Aptos"/>
                <a:ea typeface="Aptos"/>
                <a:cs typeface="Aptos"/>
              </a:rPr>
              <a:t>Groq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2C019E-5828-41C2-A849-4B6CED2F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81300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lazy SDK import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F29C11-DF85-4334-8F6A-9F96E405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62250"/>
            <a:ext cx="1504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1404E9-B849-450A-944E-1D4468C6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6235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FCE910-9666-4C9E-AD90-F2ABB46F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695700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BBF24"/>
                </a:solidFill>
                <a:latin typeface="Aptos"/>
                <a:ea typeface="Aptos"/>
                <a:cs typeface="Aptos"/>
              </a:rPr>
              <a:t>OpenRouter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5554EE-E83E-4A43-AD33-BF09353D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962400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fallback models + retries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2B1299-C52F-4A09-A5C5-2D2C9FA8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943350"/>
            <a:ext cx="1504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85C772-727E-41C1-8619-AAA2030BE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6725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64CFF3-8A4C-4B1F-8BFF-383782FF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00600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8BF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78BFA"/>
                </a:solidFill>
                <a:latin typeface="Aptos"/>
                <a:ea typeface="Aptos"/>
                <a:cs typeface="Aptos"/>
              </a:rPr>
              <a:t>Gemini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42791D-F98D-45D6-B21E-7D5BAA12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067300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REST endpoint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5BD643-58A7-44CC-985E-02B0E00F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048250"/>
            <a:ext cx="1504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E203E9-FAEA-4B87-A3C2-219EC4B0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2420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0903E0-51C0-467C-B123-79059009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5755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ERROR CONTRACT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FC8239-C044-4C2B-B7BA-1F7F090E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24250"/>
            <a:ext cx="2266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All recoverable provider failures return strings beginning with `Error:` so the UI can render controlled warning states.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3017A4-576C-4842-8B57-4D1D6F85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57625"/>
            <a:ext cx="104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98FA8F-4BA5-49C8-8649-3A883F21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67350"/>
            <a:ext cx="495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Design result: external AI can fail without breaking deterministic scoring.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10BD98-3853-476D-9183-2F5063D9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527DD3-B032-4065-8974-7580CEFB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885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Source: utils/llm_helper.py and PROJECT_REPORT.md sections 10, 12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95B7EB-EEEE-41D0-AAE0-38B85476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5151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Resume Matcher Capstone</a:t>
            </a:r>
          </a:p>
        </p:txBody>
      </p:sp>
    </p:spTree>
    <p:extLst>
      <p:ext uri="{BB962C8B-B14F-4D97-AF65-F5344CB8AC3E}">
        <p14:creationId xmlns:p14="http://schemas.microsoft.com/office/powerpoint/2010/main" val="167938529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DB9600-137B-40E6-8E06-B80E9824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CA713-23D3-4C3D-A927-2DB25EC3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B3B2BA-7647-41C7-A71A-F394CB20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7ECA6A-6984-4352-8F04-83B5DD37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CFC30F-CF44-4E21-BBC0-89600FBC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7625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D20617-1B53-464C-9E10-F13BD5BE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5245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B1A047-6AD6-44DE-821A-C6422328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2865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25F875-58BC-4662-8779-0B17121A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704850"/>
            <a:ext cx="1390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D0B281-6E7A-441F-8C58-F5726B39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781050"/>
            <a:ext cx="1162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1A8544-1494-48E4-A3CE-7A49A125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857250"/>
            <a:ext cx="933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528A47-3B98-493A-9926-B50009BB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933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040599F7-E9FB-4372-87A5-75D05911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RESULTS</a:t>
            </a:r>
          </a:p>
        </p:txBody>
      </p:sp>
      <p:sp>
        <p:nvSpPr>
          <p:cNvPr id="13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487285B8-5D1C-4104-B8A1-DBFF72B5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36614D-FDF4-4E23-9247-E2D11B47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The final implementation passes all automated tests and fixes the main runtime failure modes.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FC647E-8F75-473A-9100-B9777D8D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857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Latest local verification: pytest -q -&gt; 8 passed.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261C19-4F39-4E48-A0F1-3F7A04CA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191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8/10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1278B1-ED0A-475D-BA28-33FDF5D1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238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34D399"/>
                </a:solidFill>
                <a:latin typeface="Aptos"/>
                <a:ea typeface="Aptos"/>
                <a:cs typeface="Aptos"/>
              </a:rPr>
              <a:t>8 passed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04EC20-1C27-451D-A6F8-1FA552A4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Latest local verification with `pytest -q`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3BE22B-49CD-497A-929B-8002A12B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622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Similarity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81CD2E-2218-476F-BFDD-F14BF55F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7622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empty + normal inputs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C8131A-A7B2-40CC-8241-CEC25DC4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33675"/>
            <a:ext cx="742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6DF696-D093-47A4-B8AC-D0306111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790825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792BC4-75AD-454F-A8EB-D76128CF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24200"/>
            <a:ext cx="585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FA8FE8-A200-455B-95EE-D6A3475D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147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Preprocessing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8098B4-5271-4B5D-A25B-D51260BF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3147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output contract + depth sanity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1CBBFA-443B-4928-A9F9-96560F16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86125"/>
            <a:ext cx="742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94A399-8953-44D8-AA81-59F1A385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343275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65465D-D6D5-404A-A960-7D3FEC91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76650"/>
            <a:ext cx="585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898A18-F6FE-4B99-95E8-2D65F084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8671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Extraction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3EAA3E-6B65-481C-8E9E-85DCD030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671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fallback behavior for missing files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A52914-5BE8-428B-8FA8-BF0C129D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838575"/>
            <a:ext cx="742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D3D2E5-170E-4B73-B886-0E427A1F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95725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25157D-5F1C-4670-BB7E-FB074F47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229100"/>
            <a:ext cx="585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ACD740-4DB4-43CE-A4C5-055898F3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4196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LLM provider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47721A-CDE5-4A2D-85BA-B92E91E5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4196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missing-key validation path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52E2D2-BC0D-4EF3-A3FD-9D591058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391025"/>
            <a:ext cx="742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FDC309-A711-43BA-B233-6C1BAEEF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448175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63779F-978E-46D1-BC70-BC0049A3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781550"/>
            <a:ext cx="585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86A35A7-3DFC-4DB2-BBF2-AD9E1B32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2229C25-5A52-48D1-A07C-2FD10E0B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2552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BUG FIX IMPACT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64B7EB7-B554-46DE-8D5A-AE7EC418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05350"/>
            <a:ext cx="2552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Empty-vocabulary crash, optional import coupling, fragile test scripts, and inconsistent UI error strings were fixed.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D9C92D-EF62-417F-9465-0496BAF7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5D9C835-79EC-4C1C-8905-5AF1B34B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885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Source: local pytest run, PROJECT_REPORT.md sections 13-15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1FC2301-26A6-4270-A30F-3798A896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5151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Resume Matcher Capstone</a:t>
            </a:r>
          </a:p>
        </p:txBody>
      </p:sp>
    </p:spTree>
    <p:extLst>
      <p:ext uri="{BB962C8B-B14F-4D97-AF65-F5344CB8AC3E}">
        <p14:creationId xmlns:p14="http://schemas.microsoft.com/office/powerpoint/2010/main" val="69631481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A7A85A-FCD9-4C6E-BF81-2DFC9835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58F81-04D4-4EBA-9FFB-9C38A91D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FF543B-6EB6-474F-9930-EC3B244C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F025DD-4E76-4966-A03F-D2C1C92A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0B9C98-B5B6-4AFE-AAF8-7F13B67E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7625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24259F-42F7-4261-BB57-9E125204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5245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108834-6BB1-4EF0-B35D-DC965C54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2865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DDCB68-87E7-4FB6-B9EC-A8081924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704850"/>
            <a:ext cx="1390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F39143-5313-42F6-8005-B3F3DAD4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781050"/>
            <a:ext cx="1162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E4152E-6CE5-4A06-B742-04342C02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857250"/>
            <a:ext cx="933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056D76-5C04-4377-9D9A-340999C6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933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kicker-09-label">
            <a:extLst xmlns:a="http://schemas.openxmlformats.org/drawingml/2006/main">
              <a:ext uri="{FF2B5EF4-FFF2-40B4-BE49-F238E27FC236}">
                <a16:creationId xmlns:a16="http://schemas.microsoft.com/office/drawing/2014/main" id="{4D96CDF3-5E29-43D5-91F4-F06E4E69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LIMITATIONS AND ROADMAP</a:t>
            </a:r>
          </a:p>
        </p:txBody>
      </p:sp>
      <p:sp>
        <p:nvSpPr>
          <p:cNvPr id="13" name="kicker-09-marker">
            <a:extLst xmlns:a="http://schemas.openxmlformats.org/drawingml/2006/main">
              <a:ext uri="{FF2B5EF4-FFF2-40B4-BE49-F238E27FC236}">
                <a16:creationId xmlns:a16="http://schemas.microsoft.com/office/drawing/2014/main" id="{03D1157F-F07F-47D4-921B-43334655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560CA1-7C78-4FAE-AF8E-15A85AEF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The v1 is reliable and explainable; v2 should add semantic depth and richer analytics.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7E05DB-D62D-4566-913D-9BCBECF0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857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The modular architecture makes embeddings, heatmaps, and reporting natural next extensions.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C833BD-2799-4BBD-ADC2-93B941F5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191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9/10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2D9B92-59BB-4FEB-97AA-1F2F3AA6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476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6C0183-04EF-4467-8878-087BA16B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417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CURRENT LIMITATIONS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9D40F7-51A1-4D72-A9C0-0C4978DC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41719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TF-IDF can miss semantic paraphrases.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OCR quality depends on scan quality and Tesseract setup.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Depth inference is heuristic.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No persistent history, recruiter dashboard, or ATS integration.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8CBEAF-4FB3-4E67-AE32-1D86CA35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24200"/>
            <a:ext cx="190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E9B77B-D97E-408B-8A18-48FD5021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8130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BBF24"/>
                </a:solidFill>
                <a:latin typeface="Aptos"/>
                <a:ea typeface="Aptos"/>
                <a:cs typeface="Aptos"/>
              </a:rPr>
              <a:t>v2.1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C12EEB-4C79-49C2-AD5D-662E3BC7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57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4D5143-5A81-4A2B-B328-5535AE23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766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Hybrid scoring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E24A5A-5411-4A0C-993D-D21042B2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000500"/>
            <a:ext cx="1485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TF-IDF + sentence embeddings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C43053-0CEA-453E-BD56-700D1C5B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24200"/>
            <a:ext cx="190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981C2F-D60C-4CE8-A1D8-9D514045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8130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BBF24"/>
                </a:solidFill>
                <a:latin typeface="Aptos"/>
                <a:ea typeface="Aptos"/>
                <a:cs typeface="Aptos"/>
              </a:rPr>
              <a:t>v2.2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863F2B-3FA1-4762-A069-7783A3C5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57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CEAC58-3B9B-485A-B4E4-A65CF014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766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Explainability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CAC1E1-0FB4-40DA-9668-F88F8A56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00500"/>
            <a:ext cx="1485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skill coverage heatmap + trace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AA410D-8410-403E-9644-2E7AC53F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24200"/>
            <a:ext cx="190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C9D2B4-2F8B-4FE7-AC57-72674C2B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8130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BBF24"/>
                </a:solidFill>
                <a:latin typeface="Aptos"/>
                <a:ea typeface="Aptos"/>
                <a:cs typeface="Aptos"/>
              </a:rPr>
              <a:t>v2.3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51553F-E660-4B7D-8C0F-2DF9E6B8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57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AB5D55-FD55-43FF-9A7A-AE9C3AFB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766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Productization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502E1D-EE19-445C-83A3-199CF0EB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00500"/>
            <a:ext cx="1485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PDF report export + deployment hardening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B1C2E9-CA10-476E-A18B-3FF2F19E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7185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2C1038-5D73-4C50-99BB-DFD673FD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59F026-1A43-4143-B639-BD6E8E8C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885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Source: PROJECT_REPORT.md sections 20-21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938DB1-46AC-4D75-BCA2-218016ED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5151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Resume Matcher Capstone</a:t>
            </a:r>
          </a:p>
        </p:txBody>
      </p:sp>
    </p:spTree>
    <p:extLst>
      <p:ext uri="{BB962C8B-B14F-4D97-AF65-F5344CB8AC3E}">
        <p14:creationId xmlns:p14="http://schemas.microsoft.com/office/powerpoint/2010/main" val="176612103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95612B-E391-410C-834C-9CA5FBEE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6B3E2D-FB8E-48DA-935E-E4FC06F5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0DDDEC-C3DA-4F5E-8EAF-EC0A4763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461A85-F0FF-4A40-ACF3-36E7666E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52DF7-123F-4C37-A78C-41FE8E50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7625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82CC06-EE17-4C0B-B17A-8D2A8041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5245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2CF9C0-A596-4F03-9C43-AF898C99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2865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67F961-3080-488F-8600-17AD255D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704850"/>
            <a:ext cx="1390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76F6CB-36A0-4FA1-846E-F932367B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781050"/>
            <a:ext cx="1162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FA52E4-3944-4E18-8905-5EB54754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857250"/>
            <a:ext cx="933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C0E15A-F31E-4F7E-BF38-78718318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933450"/>
            <a:ext cx="70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7ED6886F-DB27-45C1-9EA6-2092E0D5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CLOSING</a:t>
            </a:r>
          </a:p>
        </p:txBody>
      </p:sp>
      <p:sp>
        <p:nvSpPr>
          <p:cNvPr id="13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0C97598A-CCCB-452E-93D6-4FD9EF97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3783AD-C2D6-41F6-8D18-F46A0A28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Resume Matcher is a practical hiring-assist tool built around trust, explainability, and graceful failure.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5833D6-C898-4D13-B4F9-06219B3C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857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Best live demo: upload resume, paste JD, show score breakdown, then discuss feedback and failure handling.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94DD88-D1C4-44B3-9BED-321FDF5A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191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10/10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16F1AE-16EA-495B-AA5E-AE575B5E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058187-C979-409A-83CE-3EDAE1C3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5717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Show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E5844E-A629-415A-94A4-48BB9053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67025"/>
            <a:ext cx="466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Upload a resume and select/paste the JD.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37419C-7B54-43FB-AB66-D74CA429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BE5F90-7F0D-4A84-9952-B9455AAC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147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Run analysis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204982-2313-4F50-AC6F-40942542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09975"/>
            <a:ext cx="466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Explain extraction, preprocessing, and scoring while it runs.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CEC2C5-67EF-4A85-8111-7F7ACC67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1A6533-151A-434F-B44B-17538272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576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Interpret results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E09191-6E6B-48C7-9CCE-6E03C435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52925"/>
            <a:ext cx="466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Discuss score, similarity, depth gap, and AI coaching.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15B604-3D01-4DD3-834D-B7A79F52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A3AAB0-9FAE-41F2-913F-AC2AC5C3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006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Close with reliability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637C22-DFF7-4C59-9FD1-2EA378BD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95875"/>
            <a:ext cx="466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Show how provider/API failure is handled safely.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96CB97-E3EB-4688-B91A-003A3455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3238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09EAD2-0A37-44E6-B557-682DB6A7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90850"/>
            <a:ext cx="2933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FINAL TAKEAWAY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3CEC21-18B2-4584-A057-01239746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257550"/>
            <a:ext cx="29337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The strongest design decision is separation of concerns: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local deterministic scoring for trust,</a:t>
            </a:r>
          </a:p>
          <a:p xmlns:a="http://schemas.openxmlformats.org/drawingml/2006/main">
            <a:pPr algn="l">
              <a:defRPr sz="135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provider-based coaching for guidance,</a:t>
            </a:r>
          </a:p>
          <a:p xmlns:a="http://schemas.openxmlformats.org/drawingml/2006/main">
            <a:pPr algn="l">
              <a:defRPr sz="135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and tests/error contracts for reliability.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51071B-C18F-4364-9D59-E16948DA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C478BB-BF31-45FB-B7F6-2179478A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885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Source: PROJECT_REPORT.md conclusion and SYSTEM_DESIGN.md summary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FB90B2-E4E3-49EE-BB2F-DE3F734A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5151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Resume Matcher Capstone</a:t>
            </a:r>
          </a:p>
        </p:txBody>
      </p:sp>
    </p:spTree>
    <p:extLst>
      <p:ext uri="{BB962C8B-B14F-4D97-AF65-F5344CB8AC3E}">
        <p14:creationId xmlns:p14="http://schemas.microsoft.com/office/powerpoint/2010/main" val="11538042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2026-05-05T05:07:11.5850000Z</dcterms:created>
  <dcterms:modified xsi:type="dcterms:W3CDTF">2026-05-05T05:07:11.5850000Z</dcterms:modified>
</coreProperties>
</file>